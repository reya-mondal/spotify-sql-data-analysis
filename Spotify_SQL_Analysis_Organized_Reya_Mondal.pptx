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70" r:id="rId10"/>
    <p:sldId id="263" r:id="rId11"/>
    <p:sldId id="264" r:id="rId12"/>
    <p:sldId id="265" r:id="rId13"/>
    <p:sldId id="266" r:id="rId14"/>
    <p:sldId id="267" r:id="rId15"/>
    <p:sldId id="271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8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potify_template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89320" y="1737360"/>
            <a:ext cx="5486400" cy="4251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5080" y="20574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300" b="1">
                <a:solidFill>
                  <a:srgbClr val="FAF8FC"/>
                </a:solidFill>
                <a:latin typeface="Aptos"/>
              </a:rPr>
              <a:t>SPOTIFY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2761488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AF8FC"/>
                </a:solidFill>
                <a:latin typeface="Aptos"/>
              </a:rPr>
              <a:t>SQL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3456432"/>
            <a:ext cx="4389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23F96"/>
                </a:solidFill>
                <a:latin typeface="Aptos"/>
              </a:rPr>
              <a:t>DATA ANALYS</a:t>
            </a:r>
            <a:r>
              <a:rPr lang="en-IN" sz="1200" b="1" dirty="0">
                <a:solidFill>
                  <a:srgbClr val="E23F96"/>
                </a:solidFill>
                <a:latin typeface="Aptos"/>
              </a:rPr>
              <a:t>IS</a:t>
            </a:r>
            <a:r>
              <a:rPr sz="1200" b="1" dirty="0">
                <a:solidFill>
                  <a:srgbClr val="E23F96"/>
                </a:solidFill>
                <a:latin typeface="Aptos"/>
              </a:rPr>
              <a:t>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088" y="40690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AF8FC"/>
                </a:solidFill>
                <a:latin typeface="Aptos"/>
              </a:rPr>
              <a:t>Reya Mondal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9088" y="4526280"/>
            <a:ext cx="4572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CDC3D2"/>
                </a:solidFill>
                <a:latin typeface="Aptos"/>
              </a:rPr>
              <a:t>Data Analyst 
SQL • Excel • 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172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AF8FC"/>
                </a:solidFill>
                <a:latin typeface="Aptos"/>
              </a:rPr>
              <a:t>SQL DATA ANALYSIS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766" y="0"/>
            <a:ext cx="12191695" cy="6858000"/>
          </a:xfrm>
          <a:prstGeom prst="rect">
            <a:avLst/>
          </a:prstGeom>
          <a:solidFill>
            <a:srgbClr val="08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3F96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AF8FC"/>
                </a:solidFill>
                <a:latin typeface="Aptos"/>
              </a:rPr>
              <a:t>Hello, I'm Reya Mondal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713232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CDC3D2"/>
                </a:solidFill>
                <a:latin typeface="Aptos"/>
              </a:rPr>
              <a:t>I am a Data Analyst with a strong interest in turning raw data into meaningful business insights. I work with SQL, Excel and Power BI to clean, analyze and present data in a clear and practical 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520440"/>
            <a:ext cx="3246120" cy="155448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3685032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087368"/>
            <a:ext cx="28437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AF8FC"/>
                </a:solidFill>
                <a:latin typeface="Aptos"/>
              </a:rPr>
              <a:t>Data Analyst Focused on analytical problem-solving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3520440"/>
            <a:ext cx="3246120" cy="155448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61688" y="3685032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CORE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4087368"/>
            <a:ext cx="284378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SQL • Excel • Power BI
DAX • Power Query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520440"/>
            <a:ext cx="3246120" cy="155448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36408" y="3685032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PROJECT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4087368"/>
            <a:ext cx="284378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Spotify SQL Data Analysis
Data cleaning &amp; business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8064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AF8FC"/>
                </a:solidFill>
                <a:latin typeface="Aptos"/>
              </a:rPr>
              <a:t>Goal: build reliable analysis and communicate insights clearly.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DC3D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AF8FC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326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C3D2"/>
                </a:solidFill>
                <a:latin typeface="Aptos"/>
              </a:rPr>
              <a:t>A SQL-driven exploration of Spotify track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74720" cy="338328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71907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BUSINESS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21408"/>
            <a:ext cx="307238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Understand streaming performance, artist activity, album insights, engagement and platform preference.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554480"/>
            <a:ext cx="3474720" cy="338328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71907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21408"/>
            <a:ext cx="307238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Clean the dataset → validate fields → aggregate metrics → compare performance → extract insights.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554480"/>
            <a:ext cx="3474720" cy="338328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171907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121408"/>
            <a:ext cx="307238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10 business-oriented SQL analyses covering streams, artists, albums, audio features, views, likes and platform comparison.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DC3D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AF8FC"/>
                </a:solidFill>
                <a:latin typeface="Aptos"/>
              </a:rPr>
              <a:t>Dataset &amp; Table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326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C3D2"/>
                </a:solidFill>
                <a:latin typeface="Aptos"/>
              </a:rPr>
              <a:t>Main fields used in the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64592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81912"/>
            <a:ext cx="3026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Track &amp; 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84248"/>
            <a:ext cx="30266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artist • track • album • album_type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64592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581912"/>
            <a:ext cx="3026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Audio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984248"/>
            <a:ext cx="30266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danceability • energy • loudness • speechiness • acousticness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417320"/>
            <a:ext cx="3429000" cy="164592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7" y="1581912"/>
            <a:ext cx="3026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1984248"/>
            <a:ext cx="30266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views • likes • comments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3429000" cy="164592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3639312"/>
            <a:ext cx="3026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Streaming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41648"/>
            <a:ext cx="30266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stream • most_played_on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474720"/>
            <a:ext cx="3429000" cy="164592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0288" y="3639312"/>
            <a:ext cx="3026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Video &amp; License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041648"/>
            <a:ext cx="30266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licensed • official_video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9" y="3474720"/>
            <a:ext cx="3429000" cy="164592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9327" y="3639312"/>
            <a:ext cx="3026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Other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4041648"/>
            <a:ext cx="30266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tempo • duration_min • valence • liveness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DC3D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AF8FC"/>
                </a:solidFill>
                <a:latin typeface="Aptos"/>
              </a:rPr>
              <a:t>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326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C3D2"/>
                </a:solidFill>
                <a:latin typeface="Aptos"/>
              </a:rPr>
              <a:t>Removing invalid duration records before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3F96"/>
                </a:solidFill>
                <a:latin typeface="Aptos"/>
              </a:rPr>
              <a:t>1  CHECK ZERO-DURATION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AF8FC"/>
                </a:solidFill>
                <a:latin typeface="Aptos"/>
              </a:rPr>
              <a:t>SELECT * FROM spotify
WHERE duration_min = 0;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3F96"/>
                </a:solidFill>
                <a:latin typeface="Aptos"/>
              </a:rPr>
              <a:t>2  DELETE INVALID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AF8FC"/>
                </a:solidFill>
                <a:latin typeface="Aptos"/>
              </a:rPr>
              <a:t>DELETE FROM spotify
WHERE duration_min = 0;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698480" cy="123444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3913631"/>
            <a:ext cx="10296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QUALITY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315968"/>
            <a:ext cx="10296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Re-run the SELECT query after deletion to confirm that zero-duration records have been removed.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DC3D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AF8FC"/>
                </a:solidFill>
                <a:latin typeface="Aptos"/>
              </a:rPr>
              <a:t>Analysis 1–3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326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C3D2"/>
                </a:solidFill>
                <a:latin typeface="Aptos"/>
              </a:rPr>
              <a:t>Streaming, artist/album mapping and licensed engagement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611880" cy="448056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01 • HIGH-STREAM TRACKS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320954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SELECT *
FROM spotify
WHERE stream &gt; 1000000000;
Identifies tracks crossing the 1-billion-stream threshold.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3611880" cy="448056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8848" y="1581912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02 • ALBUM + ARTIST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984248"/>
            <a:ext cx="320954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SELECT DISTINCT album, artist
FROM spotify;
Creates a unique album–artist mapping.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611880" cy="448056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02168" y="1581912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03 • LICENSED COMMENTS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1984248"/>
            <a:ext cx="320954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SELECT SUM(comments)
FROM spotify
WHERE licensed = TRUE;
Measures total comments for licensed tracks.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DC3D2"/>
                </a:solidFill>
                <a:latin typeface="Aptos"/>
              </a:rPr>
              <a:t>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320A39F-193B-BB8C-CA9D-90728FFC4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72" y="3053224"/>
            <a:ext cx="3672908" cy="27623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F3B035-8904-809C-126B-84BDA30A9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293" y="2786743"/>
            <a:ext cx="3498030" cy="29465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BD4068F-E127-3DF8-F7CF-A7C9233E0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4112" y="2918835"/>
            <a:ext cx="2985655" cy="28144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solidFill>
                  <a:srgbClr val="FAF8FC"/>
                </a:solidFill>
                <a:latin typeface="Aptos"/>
              </a:rPr>
              <a:t>Result — Query </a:t>
            </a:r>
            <a:r>
              <a:rPr lang="en-IN" sz="2700" b="1" dirty="0">
                <a:solidFill>
                  <a:srgbClr val="FAF8FC"/>
                </a:solidFill>
                <a:latin typeface="Aptos"/>
              </a:rPr>
              <a:t>4</a:t>
            </a:r>
            <a:endParaRPr sz="2700" b="1" dirty="0">
              <a:solidFill>
                <a:srgbClr val="FAF8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DC3D2"/>
                </a:solidFill>
                <a:latin typeface="Aptos"/>
              </a:rPr>
              <a:t>Count of total tracks by artist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10762488" cy="484632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0996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DC3D2"/>
                </a:solidFill>
                <a:latin typeface="Aptos"/>
              </a:rPr>
              <a:t>7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F5868AD-55E9-DDFC-1D1C-A0870D12A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872" y="2623456"/>
            <a:ext cx="10229088" cy="364018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F047ABB-E864-844B-8761-C733BD44136F}"/>
              </a:ext>
            </a:extLst>
          </p:cNvPr>
          <p:cNvSpPr txBox="1"/>
          <p:nvPr/>
        </p:nvSpPr>
        <p:spPr>
          <a:xfrm>
            <a:off x="2738628" y="1645920"/>
            <a:ext cx="320954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AF8FC"/>
                </a:solidFill>
                <a:latin typeface="Aptos"/>
              </a:rPr>
              <a:t>SELECT track, </a:t>
            </a:r>
            <a:r>
              <a:rPr sz="1100" b="0" dirty="0" err="1">
                <a:solidFill>
                  <a:srgbClr val="FAF8FC"/>
                </a:solidFill>
                <a:latin typeface="Aptos"/>
              </a:rPr>
              <a:t>album_type</a:t>
            </a:r>
            <a:r>
              <a:rPr sz="1100" b="0" dirty="0">
                <a:solidFill>
                  <a:srgbClr val="FAF8FC"/>
                </a:solidFill>
                <a:latin typeface="Aptos"/>
              </a:rPr>
              <a:t>
FROM </a:t>
            </a:r>
            <a:r>
              <a:rPr sz="1100" b="0" dirty="0" err="1">
                <a:solidFill>
                  <a:srgbClr val="FAF8FC"/>
                </a:solidFill>
                <a:latin typeface="Aptos"/>
              </a:rPr>
              <a:t>spotify</a:t>
            </a:r>
            <a:r>
              <a:rPr sz="1100" b="0" dirty="0">
                <a:solidFill>
                  <a:srgbClr val="FAF8FC"/>
                </a:solidFill>
                <a:latin typeface="Aptos"/>
              </a:rPr>
              <a:t>
WHERE </a:t>
            </a:r>
            <a:r>
              <a:rPr sz="1100" b="0" dirty="0" err="1">
                <a:solidFill>
                  <a:srgbClr val="FAF8FC"/>
                </a:solidFill>
                <a:latin typeface="Aptos"/>
              </a:rPr>
              <a:t>album_type</a:t>
            </a:r>
            <a:r>
              <a:rPr sz="1100" b="0" dirty="0">
                <a:solidFill>
                  <a:srgbClr val="FAF8FC"/>
                </a:solidFill>
                <a:latin typeface="Aptos"/>
              </a:rPr>
              <a:t> = 'single';
Identifies tracks released as singles.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70C9E4-2105-310C-BAD1-310E7DCF69DB}"/>
              </a:ext>
            </a:extLst>
          </p:cNvPr>
          <p:cNvSpPr txBox="1"/>
          <p:nvPr/>
        </p:nvSpPr>
        <p:spPr>
          <a:xfrm>
            <a:off x="795528" y="1581912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A12DB2"/>
                </a:solidFill>
                <a:latin typeface="Aptos"/>
              </a:rPr>
              <a:t>04 • SINGLE TRACKS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AF8FC"/>
                </a:solidFill>
                <a:latin typeface="Aptos"/>
              </a:rPr>
              <a:t>Analysis </a:t>
            </a:r>
            <a:r>
              <a:rPr lang="en-IN" sz="2800" b="1" dirty="0">
                <a:solidFill>
                  <a:srgbClr val="FAF8FC"/>
                </a:solidFill>
                <a:latin typeface="Aptos"/>
              </a:rPr>
              <a:t>5</a:t>
            </a:r>
            <a:endParaRPr sz="2800" b="1" dirty="0">
              <a:solidFill>
                <a:srgbClr val="FAF8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9326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C3D2"/>
                </a:solidFill>
                <a:latin typeface="Aptos"/>
              </a:rPr>
              <a:t>Track type, artist volume and audio characteristics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611880" cy="448056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AF8FC"/>
                </a:solidFill>
                <a:latin typeface="Aptos"/>
              </a:rPr>
              <a:t>The executed query returned 2,074 rows. The visible result shows artists such as Marisela, Ray Charles, Joey Bada$$, La Mosca Tse-Tse, TheFatRat, Leo Dan and Tyga with 10 tracks each.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7299960" cy="448056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498848" y="1581912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A12DB2"/>
                </a:solidFill>
                <a:latin typeface="Aptos"/>
              </a:rPr>
              <a:t>05 • TRACKS BY ARTIST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984248"/>
            <a:ext cx="320954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AF8FC"/>
                </a:solidFill>
                <a:latin typeface="Aptos"/>
              </a:rPr>
              <a:t>SELECT artist, COUNT(track)
FROM </a:t>
            </a:r>
            <a:r>
              <a:rPr sz="1100" b="0" dirty="0" err="1">
                <a:solidFill>
                  <a:srgbClr val="FAF8FC"/>
                </a:solidFill>
                <a:latin typeface="Aptos"/>
              </a:rPr>
              <a:t>spotify</a:t>
            </a:r>
            <a:r>
              <a:rPr sz="1100" b="0" dirty="0">
                <a:solidFill>
                  <a:srgbClr val="FAF8FC"/>
                </a:solidFill>
                <a:latin typeface="Aptos"/>
              </a:rPr>
              <a:t>
GROUP BY artist;
Measures artist-level track volume.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DC3D2"/>
                </a:solidFill>
                <a:latin typeface="Aptos"/>
              </a:rPr>
              <a:t>8</a:t>
            </a:r>
          </a:p>
        </p:txBody>
      </p:sp>
      <p:pic>
        <p:nvPicPr>
          <p:cNvPr id="17" name="Picture 16" descr="Screenshot 2026-08-18 083730.png">
            <a:extLst>
              <a:ext uri="{FF2B5EF4-FFF2-40B4-BE49-F238E27FC236}">
                <a16:creationId xmlns:a16="http://schemas.microsoft.com/office/drawing/2014/main" id="{D76A0C3E-800D-6FD0-0DD4-D3549328E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224" y="2955253"/>
            <a:ext cx="7125351" cy="265088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EBFD74E-24E6-7EF8-88DF-FE77AD81BF1E}"/>
              </a:ext>
            </a:extLst>
          </p:cNvPr>
          <p:cNvSpPr txBox="1"/>
          <p:nvPr/>
        </p:nvSpPr>
        <p:spPr>
          <a:xfrm>
            <a:off x="1387145" y="15773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500" b="1" dirty="0">
                <a:solidFill>
                  <a:srgbClr val="E23F96"/>
                </a:solidFill>
                <a:latin typeface="Aptos"/>
              </a:rPr>
              <a:t>          </a:t>
            </a:r>
            <a:r>
              <a:rPr sz="1500" b="1" dirty="0">
                <a:solidFill>
                  <a:srgbClr val="E23F96"/>
                </a:solidFill>
                <a:latin typeface="Aptos"/>
              </a:rPr>
              <a:t>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AF8FC"/>
                </a:solidFill>
                <a:latin typeface="Aptos"/>
              </a:rPr>
              <a:t>Result — Query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DC3D2"/>
                </a:solidFill>
                <a:latin typeface="Aptos"/>
              </a:rPr>
              <a:t>Average danceability of tracks in each album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7818120" cy="489204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08-18 0837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20"/>
            <a:ext cx="7452360" cy="423367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32520" y="1417320"/>
            <a:ext cx="2834640" cy="489204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79408" y="17373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3F96"/>
                </a:solidFill>
                <a:latin typeface="Aptos"/>
              </a:rP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79408" y="224028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AF8FC"/>
                </a:solidFill>
                <a:latin typeface="Aptos"/>
              </a:rPr>
              <a:t>The executed query returned 11,853 album-level rows. The visible results include Energy (Expanded Edition) at 0.64, Nursery Rhymes by CoComelon at 0.78, Some at 0.78 and Acústico (Ao Vivo / Deluxe) at approximately 0.606.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9408" y="4892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C3D2"/>
                </a:solidFill>
                <a:latin typeface="Aptos"/>
              </a:rPr>
              <a:t>Evidence from executed SQL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DC3D2"/>
                </a:solidFill>
                <a:latin typeface="Aptos"/>
              </a:rPr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F826FF-6970-6FEC-A58F-D5EF35215A19}"/>
              </a:ext>
            </a:extLst>
          </p:cNvPr>
          <p:cNvSpPr txBox="1"/>
          <p:nvPr/>
        </p:nvSpPr>
        <p:spPr>
          <a:xfrm>
            <a:off x="2971800" y="1417320"/>
            <a:ext cx="3124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A12DB2"/>
                </a:solidFill>
                <a:latin typeface="Aptos"/>
              </a:rPr>
              <a:t>06 • AVG DANCEABILITY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AF8FC"/>
                </a:solidFill>
                <a:latin typeface="Aptos"/>
              </a:rPr>
              <a:t>Analysis 7–9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326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C3D2"/>
                </a:solidFill>
                <a:latin typeface="Aptos"/>
              </a:rPr>
              <a:t>Energy ranking, official video engagement and album 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611880" cy="448056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07 • TOP 5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320954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SELECT track, MAX(energy)
FROM spotify
GROUP BY track
ORDER BY max_energy DESC
LIMIT 5;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3611880" cy="448056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8848" y="1581912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08 • OFFICIAL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984248"/>
            <a:ext cx="320954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SELECT track, views, likes
FROM spotify
WHERE official_video = TRUE;
Reviews video engagement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611880" cy="448056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02168" y="1581912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09 • ALBUM 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1984248"/>
            <a:ext cx="320954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SELECT album, SUM(views)
FROM spotify
GROUP BY album
ORDER BY total_views DESC;
Ranks albums by total views.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DC3D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AF8FC"/>
                </a:solidFill>
                <a:latin typeface="Aptos"/>
              </a:rPr>
              <a:t>Analysis 10 — Spotify vs YouTube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326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C3D2"/>
                </a:solidFill>
                <a:latin typeface="Aptos"/>
              </a:rPr>
              <a:t>Conditional aggregation + HAVING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23F96"/>
                </a:solidFill>
                <a:latin typeface="Aptos"/>
              </a:rPr>
              <a:t>BUSINESS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1051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AF8FC"/>
                </a:solidFill>
                <a:latin typeface="Aptos"/>
              </a:rPr>
              <a:t>Which tracks have more Spotify streams than YouTube streams?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97480"/>
            <a:ext cx="10789920" cy="260604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862072"/>
            <a:ext cx="10387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SQL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64408"/>
            <a:ext cx="10387584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SELECT track,
       COALESCE(SUM(CASE WHEN most_played_on='YouTube' THEN stream END),0) AS youtube_streams,
       COALESCE(SUM(CASE WHEN most_played_on='Spotify' THEN stream END),0) AS spotify_streams
FROM spotify
GROUP BY track
HAVING COALESCE(SUM(CASE WHEN most_played_on='Spotify' THEN stream END),0)
     &gt; COALESCE(SUM(CASE WHEN most_played_on='YouTube' THEN stream END),0);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DC3D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AF8FC"/>
                </a:solidFill>
                <a:latin typeface="Aptos"/>
              </a:rPr>
              <a:t>SQL Concepts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326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C3D2"/>
                </a:solidFill>
                <a:latin typeface="Aptos"/>
              </a:rPr>
              <a:t>Core techniques used throughout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468880" cy="146304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73351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75688"/>
            <a:ext cx="20665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SELECT / WHERE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508760"/>
            <a:ext cx="2468880" cy="146304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21607" y="1673351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1607" y="2075688"/>
            <a:ext cx="20665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DISTINCT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508760"/>
            <a:ext cx="2468880" cy="146304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7" y="1673351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7" y="2075688"/>
            <a:ext cx="20665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COUNT / SUM / AVG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508760"/>
            <a:ext cx="2468880" cy="146304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99448" y="1673351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9448" y="2075688"/>
            <a:ext cx="20665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GROUP BY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74720"/>
            <a:ext cx="2468880" cy="146304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639312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20665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ORDER BY / LIMIT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39" y="3474720"/>
            <a:ext cx="2468880" cy="146304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21607" y="3639312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1607" y="4041648"/>
            <a:ext cx="20665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CASE WHEN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3474720"/>
            <a:ext cx="2468880" cy="146304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7" y="3639312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7" y="4041648"/>
            <a:ext cx="20665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COALESCE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3474720"/>
            <a:ext cx="2468880" cy="146304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99448" y="3639312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4041648"/>
            <a:ext cx="20665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HAVING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DC3D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AF8FC"/>
                </a:solidFill>
                <a:latin typeface="Aptos"/>
              </a:rPr>
              <a:t>Key Analytical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326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C3D2"/>
                </a:solidFill>
                <a:latin typeface="Aptos"/>
              </a:rPr>
              <a:t>What this project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3F96"/>
                </a:solidFill>
                <a:latin typeface="Aptos"/>
              </a:rPr>
              <a:t>Streaming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325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AF8FC"/>
                </a:solidFill>
                <a:latin typeface="Aptos"/>
              </a:rPr>
              <a:t>Identify high-performing tracks using stream thresholds.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671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3F96"/>
                </a:solidFill>
                <a:latin typeface="Aptos"/>
              </a:rPr>
              <a:t>Artists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167128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AF8FC"/>
                </a:solidFill>
                <a:latin typeface="Aptos"/>
              </a:rPr>
              <a:t>Measure artist catalog volume with grouped 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083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3F96"/>
                </a:solidFill>
                <a:latin typeface="Aptos"/>
              </a:rPr>
              <a:t>Albums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008376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AF8FC"/>
                </a:solidFill>
                <a:latin typeface="Aptos"/>
              </a:rPr>
              <a:t>Compare album-level danceability and total views.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96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3F96"/>
                </a:solidFill>
                <a:latin typeface="Aptos"/>
              </a:rPr>
              <a:t>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849624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AF8FC"/>
                </a:solidFill>
                <a:latin typeface="Aptos"/>
              </a:rPr>
              <a:t>Use views, likes and comments as audience indicators.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90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3F96"/>
                </a:solidFill>
                <a:latin typeface="Aptos"/>
              </a:rPr>
              <a:t>Platforms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69087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AF8FC"/>
                </a:solidFill>
                <a:latin typeface="Aptos"/>
              </a:rPr>
              <a:t>Use conditional aggregation to compare platform-labelled streams.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DC3D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AF8FC"/>
                </a:solidFill>
                <a:latin typeface="Aptos"/>
              </a:rPr>
              <a:t>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326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C3D2"/>
                </a:solidFill>
                <a:latin typeface="Aptos"/>
              </a:rPr>
              <a:t>End-to-end SQL analytics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1600200" cy="141732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2450592"/>
            <a:ext cx="1197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852928"/>
            <a:ext cx="11978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Raw 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41448" y="2286000"/>
            <a:ext cx="1600200" cy="141732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42616" y="2450592"/>
            <a:ext cx="1197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2616" y="2852928"/>
            <a:ext cx="11978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SQL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2286000"/>
            <a:ext cx="1600200" cy="141732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450592"/>
            <a:ext cx="1197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852928"/>
            <a:ext cx="11978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Data Cleaning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2286000"/>
            <a:ext cx="1600200" cy="141732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9672" y="2450592"/>
            <a:ext cx="1197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852928"/>
            <a:ext cx="11978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SQL Queries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57032" y="2286000"/>
            <a:ext cx="1600200" cy="141732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2450592"/>
            <a:ext cx="1197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852928"/>
            <a:ext cx="11978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Aggregation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60" y="2286000"/>
            <a:ext cx="1600200" cy="141732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96728" y="2450592"/>
            <a:ext cx="1197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12DB2"/>
                </a:solidFill>
                <a:latin typeface="Apto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96728" y="2852928"/>
            <a:ext cx="11978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AF8FC"/>
                </a:solidFill>
                <a:latin typeface="Aptos"/>
              </a:rPr>
              <a:t>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091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AF8FC"/>
                </a:solidFill>
                <a:latin typeface="Aptos"/>
              </a:rPr>
              <a:t>Raw data → clean data → SQL analysis → grouped metrics → business-ready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DC3D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AF8FC"/>
                </a:solidFill>
                <a:latin typeface="Aptos"/>
              </a:rPr>
              <a:t>SQL EXECUTION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C3D2"/>
                </a:solidFill>
                <a:latin typeface="Aptos"/>
              </a:rPr>
              <a:t>Actual PostgreSQL output screenshots added as project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429000" cy="256032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3F96"/>
                </a:solidFill>
                <a:latin typeface="Aptos"/>
              </a:rPr>
              <a:t>QUERY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AF8FC"/>
                </a:solidFill>
                <a:latin typeface="Aptos"/>
              </a:rPr>
              <a:t>2,074 result rows
Track count grouped by artist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429000" cy="256032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60" y="21031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3F96"/>
                </a:solidFill>
                <a:latin typeface="Aptos"/>
              </a:rPr>
              <a:t>QUERY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651760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AF8FC"/>
                </a:solidFill>
                <a:latin typeface="Aptos"/>
              </a:rPr>
              <a:t>11,853 result rows
Average danceability grouped by album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3429000" cy="2560320"/>
          </a:xfrm>
          <a:prstGeom prst="roundRect">
            <a:avLst/>
          </a:prstGeom>
          <a:solidFill>
            <a:srgbClr val="1B1221"/>
          </a:solidFill>
          <a:ln>
            <a:solidFill>
              <a:srgbClr val="5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3F96"/>
                </a:solidFill>
                <a:latin typeface="Aptos"/>
              </a:rPr>
              <a:t>PROJECT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651760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AF8FC"/>
                </a:solidFill>
                <a:latin typeface="Aptos"/>
              </a:rPr>
              <a:t>Shows both the SQL logic and the executed database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663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DC3D2"/>
                </a:solidFill>
                <a:latin typeface="Aptos"/>
              </a:rPr>
              <a:t>Use these result slides in your portfolio presentation to demonstrate that the SQL queries were actually executed.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CDC3D2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AF8FC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23F96"/>
                </a:solidFill>
                <a:latin typeface="Aptos"/>
              </a:rPr>
              <a:t>Spotify SQL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DC3D2"/>
                </a:solidFill>
                <a:latin typeface="Aptos"/>
              </a:rPr>
              <a:t>SQL • Data Cleaning • Data Analysis • Business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3949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AF8FC"/>
                </a:solidFill>
                <a:latin typeface="Aptos"/>
              </a:rPr>
              <a:t>Reya Mondal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1018</Words>
  <Application>Microsoft Office PowerPoint</Application>
  <PresentationFormat>Widescreen</PresentationFormat>
  <Paragraphs>156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REYA MONDAL</dc:creator>
  <cp:keywords/>
  <dc:description>generated using python-pptx</dc:description>
  <cp:lastModifiedBy>REYA MONDAL</cp:lastModifiedBy>
  <cp:revision>3</cp:revision>
  <dcterms:created xsi:type="dcterms:W3CDTF">2013-01-27T09:14:16Z</dcterms:created>
  <dcterms:modified xsi:type="dcterms:W3CDTF">2026-08-18T09:16:43Z</dcterms:modified>
  <cp:category/>
</cp:coreProperties>
</file>